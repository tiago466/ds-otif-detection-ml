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5" r:id="rId3"/>
    <p:sldId id="263" r:id="rId4"/>
    <p:sldId id="264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4" r:id="rId13"/>
    <p:sldId id="275" r:id="rId14"/>
    <p:sldId id="277" r:id="rId15"/>
    <p:sldId id="278" r:id="rId16"/>
    <p:sldId id="280" r:id="rId17"/>
    <p:sldId id="282" r:id="rId18"/>
    <p:sldId id="283" r:id="rId19"/>
    <p:sldId id="284" r:id="rId20"/>
    <p:sldId id="285" r:id="rId21"/>
    <p:sldId id="286" r:id="rId22"/>
    <p:sldId id="261" r:id="rId23"/>
  </p:sldIdLst>
  <p:sldSz cx="9144000" cy="6858000" type="screen4x3"/>
  <p:notesSz cx="6858000" cy="9144000"/>
  <p:embeddedFontLst>
    <p:embeddedFont>
      <p:font typeface="Comic Neue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2" roundtripDataSignature="AMtx7mgQsx+cVGgZ9EdDgqR9p9UEQlRa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82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8" Type="http://schemas.openxmlformats.org/officeDocument/2006/relationships/slide" Target="slides/slide7.xml"/><Relationship Id="rId8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03E18102-1C46-332F-E3DB-A02EBC28E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DB530256-2BEB-EBF7-4696-FE649EBCA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C4AAFB8C-B508-A2F4-61BC-66E3CC5EAA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288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D7FDDF01-2782-C68C-1A03-71A9ECAC3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BCBB3152-5E7D-54B2-0248-A371A3EF9A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7307187E-9628-F4FC-A7C9-6C2B4CEAD4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1232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2D6E8341-E417-1274-C9DA-F7163211E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900E5087-F5B1-AA10-2AA4-647F3C404F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AAA9EB61-86E4-E2A1-198B-4589AEAC47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5743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202B87A6-166A-F31A-B5A1-76A5C4089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F0F19061-D9CC-01E7-F820-11CF2F8418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3F24C840-B43B-5531-A665-A6D6844682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486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851CA8BB-A299-7966-4C29-0100F8B68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9D08D299-4FC4-0CF8-C1D5-FA9EDF0B6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E8044637-BDCC-0AE4-A503-B8A7EA8C01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130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0491762D-DB0A-AACA-61EE-02480FFE2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C1876FD1-9711-567B-A983-1DF9DB5EF7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C9F9BD89-8879-0DBC-809E-8EFEDAD1CC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585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A4040123-CBA6-AC8F-E81D-E439DF65F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07DEF86F-7A2A-725D-A229-90DA005BD9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EE90487F-D323-05CC-BB59-BC2F5F2420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6167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284E9C22-4697-BC7A-4DEB-E3D8C19F2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FD89BD51-C4D4-0484-4812-DAEA32C036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2982373F-BBEC-BE15-2C3D-8E31F7CE1E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5456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6E577B0E-FFB4-7EF5-64E0-83911FA54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13F97259-7331-1F16-2A22-8CCF024482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1B9CBE43-4725-5C1E-8532-A16B68D8EB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9963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3C918615-1763-75CB-BE85-311231AFF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05AD8799-49FC-F870-1CE2-AB2384BFF8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F0A791B5-AF45-272E-5A61-913E6C076B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858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48837769-49B7-F8E3-6C0E-83ECCC48C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FB054651-5F0A-6762-E381-683C16DEAF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83185155-1438-DD31-E4CA-FF7D84716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86213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37DC2982-EE88-347A-8811-B566C2F6C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30417E7C-52C2-37A7-0D5E-7886DB291A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3BDA9F91-6532-280E-07A0-01739CD977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0561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F43500D2-B37C-6CCF-2503-1A8FB5AE5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9DF3D982-582A-703B-D145-42362E6483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74A91994-E166-41F4-C68B-289EFCBF03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9457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2678AB49-CCDB-937F-9C08-06338E557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8058A901-E5AF-AF69-91B4-DFE24F413B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0C86A3EE-ABA8-D4F2-D23C-379B4AC901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78203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225F1BEB-7C83-72F2-0C1B-0834BBA61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D9132D58-4429-48D5-0A54-B1AE85DF66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029BD157-715E-F2DA-8BD9-12595473F7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73568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78C8C480-4874-E8D6-FB74-5D71AACDB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1408740E-B119-F7E0-E0F9-D63DAC92B8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B28C0B5B-DB7C-9BE2-3D6C-9AA27ADFB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12051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76AC4CEA-5559-75E3-0FF1-C81112638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64F04A34-D148-8AED-DA7D-5D8C38DDF8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41CDFEFE-BD06-13CA-A7C1-25D2C1ADB8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44975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CDF8AFD2-805E-9F90-1E9A-D3959BEEF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60C6BA20-6593-F7BD-B0E5-4A220BD88E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302ECC05-61CB-3765-B270-604257F5E1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16196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AA0C4158-518C-E49B-4E12-822372D26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8013977F-D7F0-7844-AC0E-586D9CB270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1BDAB72A-1CC9-294B-DD0B-C1CE0E12B2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66050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4E76DD64-BC5D-64D6-0B74-9FADD6210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BE8920B1-C316-F421-7CBB-5BE7F9EBDC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16A66805-6FF0-490D-6A2F-8B3DBD79A0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4527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5D3F6198-DFCC-2F7D-3FC3-83F5DD457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7faa1fde_0_6:notes">
            <a:extLst>
              <a:ext uri="{FF2B5EF4-FFF2-40B4-BE49-F238E27FC236}">
                <a16:creationId xmlns:a16="http://schemas.microsoft.com/office/drawing/2014/main" id="{1970950E-97F0-E154-B6F4-EE2C752A7D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g3247faa1fde_0_6:notes">
            <a:extLst>
              <a:ext uri="{FF2B5EF4-FFF2-40B4-BE49-F238E27FC236}">
                <a16:creationId xmlns:a16="http://schemas.microsoft.com/office/drawing/2014/main" id="{E489611B-61F1-3C45-94BF-1F3C8A9ED7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8122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tiago-lima-93504915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86" name="Google Shape;86;p1" descr="slide-ppt-fundo-clar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350500" y="2743631"/>
            <a:ext cx="84387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4000" dirty="0">
                <a:solidFill>
                  <a:schemeClr val="dk1"/>
                </a:solidFill>
                <a:latin typeface="+mj-lt"/>
                <a:ea typeface="Comic Relief"/>
                <a:cs typeface="Comic Relief"/>
                <a:sym typeface="Comic Relief"/>
              </a:rPr>
              <a:t>DS OTIF Detection</a:t>
            </a:r>
            <a:endParaRPr sz="4000" b="0" i="0" u="none" strike="noStrike" cap="none" dirty="0">
              <a:solidFill>
                <a:schemeClr val="dk1"/>
              </a:solidFill>
              <a:latin typeface="+mj-lt"/>
              <a:ea typeface="Comic Relief"/>
              <a:cs typeface="Comic Relief"/>
              <a:sym typeface="Comic Relie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6BD61CC5-1064-52B4-03C9-1A696E52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9BD54C54-1233-5A59-A933-4E5B13FAE96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D970452F-8C36-435F-0DC1-EFB7F291D51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3FAE90C9-5D83-B100-FC5F-F9181F8BAF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97971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EC871A6D-327F-BCCD-97A5-3A3252AA50D8}"/>
              </a:ext>
            </a:extLst>
          </p:cNvPr>
          <p:cNvSpPr txBox="1"/>
          <p:nvPr/>
        </p:nvSpPr>
        <p:spPr>
          <a:xfrm>
            <a:off x="250200" y="1456611"/>
            <a:ext cx="8643600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AGENDA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BE3C56B5-B36E-6A27-3DB4-0E4D3826B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5DA7F6B2-4B2F-5D5A-A729-575D1B055E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sp>
        <p:nvSpPr>
          <p:cNvPr id="6" name="Google Shape;122;g3247faa1fde_0_6">
            <a:extLst>
              <a:ext uri="{FF2B5EF4-FFF2-40B4-BE49-F238E27FC236}">
                <a16:creationId xmlns:a16="http://schemas.microsoft.com/office/drawing/2014/main" id="{B76F31E8-5157-61AE-DC51-8FCB7C157F25}"/>
              </a:ext>
            </a:extLst>
          </p:cNvPr>
          <p:cNvSpPr txBox="1"/>
          <p:nvPr/>
        </p:nvSpPr>
        <p:spPr>
          <a:xfrm>
            <a:off x="250200" y="2206402"/>
            <a:ext cx="8643600" cy="337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/>
              <a:t>Visão Geral das Empresas</a:t>
            </a:r>
          </a:p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/>
              <a:t>A DOR da ZT</a:t>
            </a:r>
          </a:p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/>
              <a:t>Contexto dos Dados</a:t>
            </a:r>
          </a:p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/>
              <a:t>EDA Descritivo</a:t>
            </a:r>
          </a:p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/>
              <a:t>EDA Inferencial &amp; Feature Engineering</a:t>
            </a:r>
            <a:endParaRPr sz="2000" b="0" i="0" strike="noStrike" cap="none" dirty="0">
              <a:solidFill>
                <a:schemeClr val="dk1"/>
              </a:solidFill>
              <a:latin typeface="Comic Neue"/>
              <a:ea typeface="Comic Neue"/>
              <a:cs typeface="Comic Neue"/>
              <a:sym typeface="Comic Neue"/>
            </a:endParaRPr>
          </a:p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/>
              <a:t>Pré-Processamento &amp; Eliminando Vazamento</a:t>
            </a:r>
          </a:p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/>
              <a:t>Modelos Clássicos e Métricas Fundamentais</a:t>
            </a:r>
            <a:endParaRPr sz="2000" b="0" i="0" strike="noStrike" cap="none" dirty="0">
              <a:solidFill>
                <a:schemeClr val="dk1"/>
              </a:solidFill>
              <a:latin typeface="Comic Neue"/>
              <a:ea typeface="Comic Neue"/>
              <a:cs typeface="Comic Neue"/>
              <a:sym typeface="Comic Neue"/>
            </a:endParaRPr>
          </a:p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 err="1"/>
              <a:t>Threshold</a:t>
            </a:r>
            <a:r>
              <a:rPr lang="pt-BR" sz="2000" dirty="0"/>
              <a:t> de Decisão</a:t>
            </a:r>
            <a:endParaRPr sz="2000" b="0" i="0" strike="noStrike" cap="none" dirty="0">
              <a:solidFill>
                <a:schemeClr val="dk1"/>
              </a:solidFill>
              <a:latin typeface="Comic Neue"/>
              <a:ea typeface="Comic Neue"/>
              <a:cs typeface="Comic Neue"/>
              <a:sym typeface="Comic Neue"/>
            </a:endParaRPr>
          </a:p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/>
              <a:t>Matriz de Confusão, ROC e </a:t>
            </a:r>
            <a:r>
              <a:rPr lang="pt-BR" sz="2000" dirty="0" err="1"/>
              <a:t>Precision</a:t>
            </a:r>
            <a:r>
              <a:rPr lang="pt-BR" sz="2000" dirty="0"/>
              <a:t>-Recall</a:t>
            </a:r>
          </a:p>
        </p:txBody>
      </p:sp>
    </p:spTree>
    <p:extLst>
      <p:ext uri="{BB962C8B-B14F-4D97-AF65-F5344CB8AC3E}">
        <p14:creationId xmlns:p14="http://schemas.microsoft.com/office/powerpoint/2010/main" val="3216281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BCD1178D-C6F3-6FC1-7C66-DE04D4073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ACA52248-4831-C2FB-D8AF-8CD6C2AAB3A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9FEB03F8-30BD-285C-52A5-69F2C0B594D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0974FDF6-C01E-8389-E811-12F5689176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97971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247faa1fde_0_6">
            <a:extLst>
              <a:ext uri="{FF2B5EF4-FFF2-40B4-BE49-F238E27FC236}">
                <a16:creationId xmlns:a16="http://schemas.microsoft.com/office/drawing/2014/main" id="{F8652686-1FAA-30F2-304C-4E4B09A971D3}"/>
              </a:ext>
            </a:extLst>
          </p:cNvPr>
          <p:cNvSpPr txBox="1"/>
          <p:nvPr/>
        </p:nvSpPr>
        <p:spPr>
          <a:xfrm>
            <a:off x="250200" y="2246723"/>
            <a:ext cx="8643600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/>
              <a:t>SOLID Gestão Empresarial</a:t>
            </a:r>
            <a:r>
              <a:rPr lang="pt-BR" sz="2000" dirty="0">
                <a:solidFill>
                  <a:schemeClr val="dk1"/>
                </a:solidFill>
                <a:latin typeface="Comic Neue"/>
                <a:sym typeface="Comic Neue"/>
              </a:rPr>
              <a:t>: 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Empresa especializada em otimização de processos, aceleração de resultados e desenvolvimento de soluções corporativas. Atualmente presta consultoria e fornece sistemas de gestão para a Zenatur.</a:t>
            </a:r>
            <a:endParaRPr lang="pt-BR" sz="20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omic Neue"/>
            </a:endParaRPr>
          </a:p>
        </p:txBody>
      </p:sp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5FF1BC8D-A072-AFD9-4596-C9F09FD579B2}"/>
              </a:ext>
            </a:extLst>
          </p:cNvPr>
          <p:cNvSpPr txBox="1"/>
          <p:nvPr/>
        </p:nvSpPr>
        <p:spPr>
          <a:xfrm>
            <a:off x="250200" y="1456611"/>
            <a:ext cx="8643600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VISÃO GERAL DAS EMPRESAS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8C58D8E0-DE4C-CC87-11B3-EA386A814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377E5722-2DC3-A6FF-D9D7-2D7D7A7534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sp>
        <p:nvSpPr>
          <p:cNvPr id="2" name="Google Shape;122;g3247faa1fde_0_6">
            <a:extLst>
              <a:ext uri="{FF2B5EF4-FFF2-40B4-BE49-F238E27FC236}">
                <a16:creationId xmlns:a16="http://schemas.microsoft.com/office/drawing/2014/main" id="{4023B8A6-FA73-6A27-9EFF-762472942229}"/>
              </a:ext>
            </a:extLst>
          </p:cNvPr>
          <p:cNvSpPr txBox="1"/>
          <p:nvPr/>
        </p:nvSpPr>
        <p:spPr>
          <a:xfrm>
            <a:off x="250200" y="3946074"/>
            <a:ext cx="8643600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/>
              <a:t>A Zenatur</a:t>
            </a:r>
            <a:r>
              <a:rPr lang="pt-BR" sz="2000" dirty="0">
                <a:solidFill>
                  <a:schemeClr val="dk1"/>
                </a:solidFill>
                <a:latin typeface="Comic Neue"/>
                <a:sym typeface="Comic Neue"/>
              </a:rPr>
              <a:t>: Empresa focada em soluções completas de logística promocional, atuando de ponta a ponta no fluxo operacional dos clientes.</a:t>
            </a:r>
          </a:p>
        </p:txBody>
      </p:sp>
      <p:sp>
        <p:nvSpPr>
          <p:cNvPr id="4" name="Google Shape;122;g3247faa1fde_0_6">
            <a:extLst>
              <a:ext uri="{FF2B5EF4-FFF2-40B4-BE49-F238E27FC236}">
                <a16:creationId xmlns:a16="http://schemas.microsoft.com/office/drawing/2014/main" id="{90C41246-2B81-5863-EDC5-BD73AB0E9723}"/>
              </a:ext>
            </a:extLst>
          </p:cNvPr>
          <p:cNvSpPr txBox="1"/>
          <p:nvPr/>
        </p:nvSpPr>
        <p:spPr>
          <a:xfrm>
            <a:off x="250200" y="5321886"/>
            <a:ext cx="8643600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/>
              <a:t>Tiago Lima</a:t>
            </a:r>
            <a:r>
              <a:rPr lang="pt-BR" sz="2000" dirty="0">
                <a:solidFill>
                  <a:schemeClr val="dk1"/>
                </a:solidFill>
                <a:latin typeface="Comic Neue"/>
                <a:sym typeface="Comic Neue"/>
              </a:rPr>
              <a:t>: Consultor de dados da SOLID, atuando dentro da Zenatur como responsável por automações, BI e projetos de Data Science para melhoria contínua dos processos operacionais.</a:t>
            </a:r>
          </a:p>
        </p:txBody>
      </p:sp>
    </p:spTree>
    <p:extLst>
      <p:ext uri="{BB962C8B-B14F-4D97-AF65-F5344CB8AC3E}">
        <p14:creationId xmlns:p14="http://schemas.microsoft.com/office/powerpoint/2010/main" val="4108577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4DB4C8FF-5397-3804-7E83-CE1580EF5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8069B20D-7389-8404-5BD2-0FB1F8E7849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D6E4E369-C85A-4A0E-2E21-969D6D481AB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E3994878-0595-6CF0-77FA-DA5D79D000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1255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247faa1fde_0_6">
            <a:extLst>
              <a:ext uri="{FF2B5EF4-FFF2-40B4-BE49-F238E27FC236}">
                <a16:creationId xmlns:a16="http://schemas.microsoft.com/office/drawing/2014/main" id="{62FAE3C0-42C6-7421-9464-C96B656955A3}"/>
              </a:ext>
            </a:extLst>
          </p:cNvPr>
          <p:cNvSpPr txBox="1"/>
          <p:nvPr/>
        </p:nvSpPr>
        <p:spPr>
          <a:xfrm>
            <a:off x="250200" y="2246723"/>
            <a:ext cx="8643600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/>
              <a:t>Processos Longos e Complexos</a:t>
            </a:r>
            <a:r>
              <a:rPr lang="pt-BR" sz="2000" dirty="0">
                <a:solidFill>
                  <a:schemeClr val="dk1"/>
                </a:solidFill>
                <a:latin typeface="Comic Neue"/>
                <a:sym typeface="Comic Neue"/>
              </a:rPr>
              <a:t>: 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Zenatur opera uma cadeia logística estruturada em múltiplas fases, cada uma com impacto direto no cumprimento dos prazos acordados com os clientes. </a:t>
            </a:r>
            <a:endParaRPr lang="pt-BR" sz="20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omic Neue"/>
            </a:endParaRPr>
          </a:p>
        </p:txBody>
      </p:sp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4DA2B5AB-731F-F5E8-506F-B162DAF7C273}"/>
              </a:ext>
            </a:extLst>
          </p:cNvPr>
          <p:cNvSpPr txBox="1"/>
          <p:nvPr/>
        </p:nvSpPr>
        <p:spPr>
          <a:xfrm>
            <a:off x="250200" y="1456611"/>
            <a:ext cx="8643600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A DOR DA ZT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4A0F06B-4C42-4FB7-2496-878BEDD61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35724B33-A93D-3150-2E57-22CA9926AD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sp>
        <p:nvSpPr>
          <p:cNvPr id="6" name="Google Shape;122;g3247faa1fde_0_6">
            <a:extLst>
              <a:ext uri="{FF2B5EF4-FFF2-40B4-BE49-F238E27FC236}">
                <a16:creationId xmlns:a16="http://schemas.microsoft.com/office/drawing/2014/main" id="{3C1C14E0-F74A-527F-58C9-38C64AF6EC12}"/>
              </a:ext>
            </a:extLst>
          </p:cNvPr>
          <p:cNvSpPr txBox="1"/>
          <p:nvPr/>
        </p:nvSpPr>
        <p:spPr>
          <a:xfrm>
            <a:off x="250200" y="3656236"/>
            <a:ext cx="8643600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/>
              <a:t>Problemas de OTIF</a:t>
            </a:r>
            <a:r>
              <a:rPr lang="pt-BR" sz="2000" dirty="0">
                <a:solidFill>
                  <a:schemeClr val="dk1"/>
                </a:solidFill>
                <a:latin typeface="Comic Neue"/>
                <a:sym typeface="Comic Neue"/>
              </a:rPr>
              <a:t>: 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Atualmente, não existe visibilidade antecipada sobre quais pedidos estão em risco de atrasar, dificultando ações preventivas, o resultado é a dificuldade de cumprir a OTIF gerando prejuízos financeiros.</a:t>
            </a:r>
            <a:endParaRPr lang="pt-BR" sz="20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omic Neue"/>
            </a:endParaRPr>
          </a:p>
        </p:txBody>
      </p:sp>
      <p:sp>
        <p:nvSpPr>
          <p:cNvPr id="7" name="Google Shape;122;g3247faa1fde_0_6">
            <a:extLst>
              <a:ext uri="{FF2B5EF4-FFF2-40B4-BE49-F238E27FC236}">
                <a16:creationId xmlns:a16="http://schemas.microsoft.com/office/drawing/2014/main" id="{20291E54-D648-5EAB-C7A3-7303EFA598E2}"/>
              </a:ext>
            </a:extLst>
          </p:cNvPr>
          <p:cNvSpPr txBox="1"/>
          <p:nvPr/>
        </p:nvSpPr>
        <p:spPr>
          <a:xfrm>
            <a:off x="234551" y="5132665"/>
            <a:ext cx="8643600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/>
              <a:t>Solução para OTIF</a:t>
            </a:r>
            <a:r>
              <a:rPr lang="pt-BR" sz="2000" dirty="0">
                <a:solidFill>
                  <a:schemeClr val="dk1"/>
                </a:solidFill>
                <a:latin typeface="Comic Neue"/>
                <a:sym typeface="Comic Neue"/>
              </a:rPr>
              <a:t>: P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rever com antecedência quais pedidos têm alta probabilidade de violar o OTIF, permitindo atuação proativa e redução de prejuízos operacionais.</a:t>
            </a:r>
            <a:endParaRPr lang="pt-BR" sz="20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omic Neue"/>
            </a:endParaRPr>
          </a:p>
        </p:txBody>
      </p:sp>
    </p:spTree>
    <p:extLst>
      <p:ext uri="{BB962C8B-B14F-4D97-AF65-F5344CB8AC3E}">
        <p14:creationId xmlns:p14="http://schemas.microsoft.com/office/powerpoint/2010/main" val="1829470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15D52955-FD62-4108-6D28-60E8DF29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89D9229B-B0E9-EB46-4ABE-62949DD203C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4B0B38A4-207F-C1DF-90EE-EEB4B4B1640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1F7C175A-D077-8898-F835-6352801D75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1255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247faa1fde_0_6">
            <a:extLst>
              <a:ext uri="{FF2B5EF4-FFF2-40B4-BE49-F238E27FC236}">
                <a16:creationId xmlns:a16="http://schemas.microsoft.com/office/drawing/2014/main" id="{FEBE2C13-7C54-D5D8-4339-61440FF03B7A}"/>
              </a:ext>
            </a:extLst>
          </p:cNvPr>
          <p:cNvSpPr txBox="1"/>
          <p:nvPr/>
        </p:nvSpPr>
        <p:spPr>
          <a:xfrm>
            <a:off x="250200" y="2246723"/>
            <a:ext cx="8643600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/>
              <a:t>O DATASET</a:t>
            </a:r>
            <a:r>
              <a:rPr lang="pt-BR" sz="2000" dirty="0">
                <a:solidFill>
                  <a:schemeClr val="dk1"/>
                </a:solidFill>
                <a:latin typeface="Comic Neue"/>
                <a:sym typeface="Comic Neue"/>
              </a:rPr>
              <a:t>: 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 dataset contém o histórico de pedidos da Zenatur, com informações de datas planejadas e reais, duração das fases logísticas, atrasos, ocorrências e outros atributos operacionais. A variável-alvo é binária, um </a:t>
            </a:r>
            <a:r>
              <a:rPr lang="pt-BR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flag_atraso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onde 1 = Verdadeiro e 0 = Falso</a:t>
            </a:r>
            <a:endParaRPr lang="pt-BR" sz="20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omic Neue"/>
            </a:endParaRPr>
          </a:p>
        </p:txBody>
      </p:sp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3D3E3E00-284C-A8DF-4085-7255CFD859C4}"/>
              </a:ext>
            </a:extLst>
          </p:cNvPr>
          <p:cNvSpPr txBox="1"/>
          <p:nvPr/>
        </p:nvSpPr>
        <p:spPr>
          <a:xfrm>
            <a:off x="250200" y="1456611"/>
            <a:ext cx="8643600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b="0" i="0" u="none" strike="noStrike" cap="none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CONTEXTO DOS DADOS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40166EBB-BBEC-DCF3-DB8E-C7A1B25CC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A6C1DAE5-6309-868E-793E-C077A06858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sp>
        <p:nvSpPr>
          <p:cNvPr id="7" name="Google Shape;122;g3247faa1fde_0_6">
            <a:extLst>
              <a:ext uri="{FF2B5EF4-FFF2-40B4-BE49-F238E27FC236}">
                <a16:creationId xmlns:a16="http://schemas.microsoft.com/office/drawing/2014/main" id="{60130CFD-FB8C-17EE-F3CA-BDB5C0FE1E88}"/>
              </a:ext>
            </a:extLst>
          </p:cNvPr>
          <p:cNvSpPr txBox="1"/>
          <p:nvPr/>
        </p:nvSpPr>
        <p:spPr>
          <a:xfrm>
            <a:off x="250200" y="4139267"/>
            <a:ext cx="8643600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/>
              <a:t>AMOSTRA</a:t>
            </a:r>
            <a:r>
              <a:rPr lang="pt-BR" sz="2000" dirty="0">
                <a:solidFill>
                  <a:schemeClr val="dk1"/>
                </a:solidFill>
                <a:latin typeface="Comic Neue"/>
                <a:sym typeface="Comic Neue"/>
              </a:rPr>
              <a:t>: 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 conjunto amostral são suficientemente consistentes para modelagem, porém apresentam lacunas temporais e comportamentos irregulares em etapas específicas, sobretudo nas fases Q e W.</a:t>
            </a:r>
            <a:endParaRPr lang="pt-BR" sz="20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omic Neue"/>
            </a:endParaRPr>
          </a:p>
        </p:txBody>
      </p:sp>
    </p:spTree>
    <p:extLst>
      <p:ext uri="{BB962C8B-B14F-4D97-AF65-F5344CB8AC3E}">
        <p14:creationId xmlns:p14="http://schemas.microsoft.com/office/powerpoint/2010/main" val="1069416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C73E01ED-D0D8-0F80-3238-314787B20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84D5DFA8-3222-A755-319E-511175B0634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9B3F7938-2E32-5E62-8E53-0DC0B57DC3E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BEDE0A1E-3F74-89C5-7094-DE041E837F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1255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247faa1fde_0_6">
            <a:extLst>
              <a:ext uri="{FF2B5EF4-FFF2-40B4-BE49-F238E27FC236}">
                <a16:creationId xmlns:a16="http://schemas.microsoft.com/office/drawing/2014/main" id="{9DB4C0CE-1EA8-96C0-78F9-EE2723778D34}"/>
              </a:ext>
            </a:extLst>
          </p:cNvPr>
          <p:cNvSpPr txBox="1"/>
          <p:nvPr/>
        </p:nvSpPr>
        <p:spPr>
          <a:xfrm>
            <a:off x="250200" y="2246723"/>
            <a:ext cx="8643600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/>
              <a:t>Forte Assimetria a Direita</a:t>
            </a:r>
            <a:r>
              <a:rPr lang="pt-BR" sz="2000" dirty="0">
                <a:solidFill>
                  <a:schemeClr val="dk1"/>
                </a:solidFill>
                <a:latin typeface="Comic Neue"/>
                <a:sym typeface="Comic Neue"/>
              </a:rPr>
              <a:t>: 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EDA revelou assimetria significativa nos tempos das fases, presença de outliers e concentração elevada de casos dentro dos intervalos inferiores.</a:t>
            </a:r>
            <a:endParaRPr lang="pt-BR" sz="20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omic Neue"/>
            </a:endParaRPr>
          </a:p>
        </p:txBody>
      </p:sp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AB989F6E-D793-7B2D-40C5-A9FE514AEDAA}"/>
              </a:ext>
            </a:extLst>
          </p:cNvPr>
          <p:cNvSpPr txBox="1"/>
          <p:nvPr/>
        </p:nvSpPr>
        <p:spPr>
          <a:xfrm>
            <a:off x="250200" y="1456611"/>
            <a:ext cx="8643600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b="0" i="0" u="none" strike="noStrike" cap="none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EDA DESCRITIVO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5ACEE4E-00F6-F612-4D1F-092571CF0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F58CA965-B9E8-2D16-6F3D-71EC788632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sp>
        <p:nvSpPr>
          <p:cNvPr id="2" name="Google Shape;122;g3247faa1fde_0_6">
            <a:extLst>
              <a:ext uri="{FF2B5EF4-FFF2-40B4-BE49-F238E27FC236}">
                <a16:creationId xmlns:a16="http://schemas.microsoft.com/office/drawing/2014/main" id="{8EC30D00-6ECE-7990-DE70-5ACED6C7FA9D}"/>
              </a:ext>
            </a:extLst>
          </p:cNvPr>
          <p:cNvSpPr txBox="1"/>
          <p:nvPr/>
        </p:nvSpPr>
        <p:spPr>
          <a:xfrm>
            <a:off x="341640" y="3659548"/>
            <a:ext cx="86436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/>
              <a:t>Alta Dispersão</a:t>
            </a:r>
            <a:r>
              <a:rPr lang="pt-BR" sz="2000" dirty="0">
                <a:solidFill>
                  <a:schemeClr val="dk1"/>
                </a:solidFill>
                <a:latin typeface="Comic Neue"/>
                <a:sym typeface="Comic Neue"/>
              </a:rPr>
              <a:t>: 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Os histogramas mostram dispersões diferentes entre as etapas.</a:t>
            </a:r>
            <a:endParaRPr lang="pt-BR" sz="20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omic Neue"/>
            </a:endParaRPr>
          </a:p>
        </p:txBody>
      </p:sp>
      <p:sp>
        <p:nvSpPr>
          <p:cNvPr id="4" name="Google Shape;122;g3247faa1fde_0_6">
            <a:extLst>
              <a:ext uri="{FF2B5EF4-FFF2-40B4-BE49-F238E27FC236}">
                <a16:creationId xmlns:a16="http://schemas.microsoft.com/office/drawing/2014/main" id="{85C75EA7-6731-7BCE-AAAF-02E646306A7B}"/>
              </a:ext>
            </a:extLst>
          </p:cNvPr>
          <p:cNvSpPr txBox="1"/>
          <p:nvPr/>
        </p:nvSpPr>
        <p:spPr>
          <a:xfrm>
            <a:off x="341640" y="4955128"/>
            <a:ext cx="86436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/>
              <a:t>Altos Valores Extremos</a:t>
            </a:r>
            <a:r>
              <a:rPr lang="pt-BR" sz="2000" dirty="0">
                <a:solidFill>
                  <a:schemeClr val="dk1"/>
                </a:solidFill>
                <a:latin typeface="Comic Neue"/>
                <a:sym typeface="Comic Neue"/>
              </a:rPr>
              <a:t>: 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Os boxplots evidenciam a existência de valores extremos que impactam a distribuição geral e o comportamento do modelo.</a:t>
            </a:r>
            <a:endParaRPr lang="pt-BR" sz="20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omic Neue"/>
            </a:endParaRPr>
          </a:p>
        </p:txBody>
      </p:sp>
    </p:spTree>
    <p:extLst>
      <p:ext uri="{BB962C8B-B14F-4D97-AF65-F5344CB8AC3E}">
        <p14:creationId xmlns:p14="http://schemas.microsoft.com/office/powerpoint/2010/main" val="1123297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965BE951-045F-CF60-6C17-BA9E3C717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9BDC0998-6660-8A60-1C55-65CC544F1B8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D5C9D1AA-42FF-7C6D-808B-F8DCF4D47BE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616C91FA-70F4-5E25-43D0-3AA4D24DD4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1255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E5A3E8B4-6202-2A12-DEB3-92B6A59D8642}"/>
              </a:ext>
            </a:extLst>
          </p:cNvPr>
          <p:cNvSpPr txBox="1"/>
          <p:nvPr/>
        </p:nvSpPr>
        <p:spPr>
          <a:xfrm>
            <a:off x="250200" y="1456611"/>
            <a:ext cx="8643600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b="0" i="0" u="none" strike="noStrike" cap="none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EDA DESCRITIVO - Gráficos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298C3D40-2D63-3068-B97B-E580A57A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3A38A9BF-CF9D-28CE-D3F2-50D6CFD26F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1E786B12-AC8D-A25D-09D2-B8A905555F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516" y="2071700"/>
            <a:ext cx="4320000" cy="118722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3630D8B-8EEF-9D0E-831B-F8A7BD5540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716" y="2071700"/>
            <a:ext cx="3870768" cy="118722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98B7723-975E-2F65-9C54-42A34E7F23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516" y="3478518"/>
            <a:ext cx="4319999" cy="1080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07C839E5-3B8F-D855-8286-1A6AB3321B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8550" y="3501823"/>
            <a:ext cx="3870768" cy="105669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DEAEB76-2ECE-8CA4-D937-B6B5EA0D6A2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1517" y="4844575"/>
            <a:ext cx="4319998" cy="108000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338FC143-C238-D3DA-D3AB-A46EB08E1D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18550" y="4910602"/>
            <a:ext cx="3870768" cy="101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175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972D8048-F716-1676-FBA8-D9664BB90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557CAF2D-CEBF-AE9A-B2E8-61534BB4E5D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D7E32538-4C1A-58A0-AC56-6EFB5723DEC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D7389CC8-1A83-D640-F928-60DC07284A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1255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247faa1fde_0_6">
            <a:extLst>
              <a:ext uri="{FF2B5EF4-FFF2-40B4-BE49-F238E27FC236}">
                <a16:creationId xmlns:a16="http://schemas.microsoft.com/office/drawing/2014/main" id="{2DDF1A0E-39BA-AE77-6824-48D1DC6C0896}"/>
              </a:ext>
            </a:extLst>
          </p:cNvPr>
          <p:cNvSpPr txBox="1"/>
          <p:nvPr/>
        </p:nvSpPr>
        <p:spPr>
          <a:xfrm>
            <a:off x="250200" y="2246723"/>
            <a:ext cx="8643600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análise mostrou que atrasos iniciais e prolongamentos nas fases são causados por grandes volumes de itens em um pedido, o que </a:t>
            </a:r>
            <a:r>
              <a:rPr lang="pt-BR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acarrega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em complexas divisões de OCAMs, estes eventos são os ofensores que aumentam exponencialmente a probabilidade de violação do OTIF.</a:t>
            </a:r>
            <a:endParaRPr lang="pt-BR" sz="20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omic Neue"/>
            </a:endParaRPr>
          </a:p>
        </p:txBody>
      </p:sp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11C62E91-C2FC-E106-17FD-C2EEE295FD62}"/>
              </a:ext>
            </a:extLst>
          </p:cNvPr>
          <p:cNvSpPr txBox="1"/>
          <p:nvPr/>
        </p:nvSpPr>
        <p:spPr>
          <a:xfrm>
            <a:off x="250200" y="1456611"/>
            <a:ext cx="8643600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b="0" i="0" u="none" strike="noStrike" cap="none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EDA INFERENCIAL &amp; FEATURE ENGINEERING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A11BDBCE-E5C5-E897-FD40-6128BC9D2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E3EBF0AD-0A59-0B00-480F-2A8C66BFF7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sp>
        <p:nvSpPr>
          <p:cNvPr id="6" name="Google Shape;122;g3247faa1fde_0_6">
            <a:extLst>
              <a:ext uri="{FF2B5EF4-FFF2-40B4-BE49-F238E27FC236}">
                <a16:creationId xmlns:a16="http://schemas.microsoft.com/office/drawing/2014/main" id="{4CD7B725-8AD2-9C05-DE10-ABFBFF877CE7}"/>
              </a:ext>
            </a:extLst>
          </p:cNvPr>
          <p:cNvSpPr txBox="1"/>
          <p:nvPr/>
        </p:nvSpPr>
        <p:spPr>
          <a:xfrm>
            <a:off x="250200" y="3974122"/>
            <a:ext cx="86436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Para capturar esses padrões, foram criadas as features derivadas como:</a:t>
            </a:r>
            <a:endParaRPr lang="pt-BR" sz="20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omic Neue"/>
            </a:endParaRPr>
          </a:p>
        </p:txBody>
      </p:sp>
      <p:sp>
        <p:nvSpPr>
          <p:cNvPr id="7" name="Google Shape;122;g3247faa1fde_0_6">
            <a:extLst>
              <a:ext uri="{FF2B5EF4-FFF2-40B4-BE49-F238E27FC236}">
                <a16:creationId xmlns:a16="http://schemas.microsoft.com/office/drawing/2014/main" id="{7D31FA16-8DDE-0C66-C130-4CA23C8417AC}"/>
              </a:ext>
            </a:extLst>
          </p:cNvPr>
          <p:cNvSpPr txBox="1"/>
          <p:nvPr/>
        </p:nvSpPr>
        <p:spPr>
          <a:xfrm>
            <a:off x="685800" y="4512701"/>
            <a:ext cx="8208000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Lead Time Total em Horas: </a:t>
            </a:r>
            <a:r>
              <a:rPr lang="pt-BR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soma de todas as horas operacionais</a:t>
            </a:r>
          </a:p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Complexidade Operacional:</a:t>
            </a:r>
            <a:r>
              <a:rPr lang="pt-BR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Definido pela quantidade de itens e OCAMs</a:t>
            </a:r>
          </a:p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1800" b="1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omic Neue"/>
              </a:rPr>
              <a:t>Flag de Pedido Grande:</a:t>
            </a:r>
            <a:r>
              <a:rPr lang="pt-BR" sz="18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omic Neue"/>
              </a:rPr>
              <a:t> Pedidos acima do terceiro quartil ou seja 75%</a:t>
            </a:r>
          </a:p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1800" b="1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omic Neue"/>
              </a:rPr>
              <a:t>Flag de Processo Longo:</a:t>
            </a:r>
            <a:r>
              <a:rPr lang="pt-BR" sz="18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omic Neue"/>
              </a:rPr>
              <a:t> Lead Time das Horas muito superiores as medias</a:t>
            </a:r>
          </a:p>
        </p:txBody>
      </p:sp>
    </p:spTree>
    <p:extLst>
      <p:ext uri="{BB962C8B-B14F-4D97-AF65-F5344CB8AC3E}">
        <p14:creationId xmlns:p14="http://schemas.microsoft.com/office/powerpoint/2010/main" val="553192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060B0BF9-A665-1254-F3D2-8E16C8265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F4A9098C-775D-54AC-1703-DAE527F7DFE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9AA1A261-99F7-6859-1AC7-C6FC8CC987C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81C72080-99E7-8FF0-B875-DA6C645A81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1255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DE0C965D-9FD8-BDEE-C0BA-6620A95553DC}"/>
              </a:ext>
            </a:extLst>
          </p:cNvPr>
          <p:cNvSpPr txBox="1"/>
          <p:nvPr/>
        </p:nvSpPr>
        <p:spPr>
          <a:xfrm>
            <a:off x="250200" y="1456611"/>
            <a:ext cx="8643600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b="0" i="0" u="none" strike="noStrike" cap="none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EDA INFERENCIAL &amp; FEATURE ENGINEERING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4EC40C31-6A4C-72A9-E1C1-DE4FD93AA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6F9AC51C-6582-5F69-1A48-A42D59CC12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BC0CD95-FFF1-9615-8962-C8EFBB17BA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793" y="2184067"/>
            <a:ext cx="4113767" cy="184945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C77E89B-6C3F-2836-FE08-63E6425C42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184067"/>
            <a:ext cx="4022327" cy="184945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2E0796E-0B88-CE29-C1D7-501117E751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793" y="4133911"/>
            <a:ext cx="4113767" cy="2209951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4355E331-BD39-E4DE-51AD-7E4BF9A240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4409441"/>
            <a:ext cx="4022327" cy="151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877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0850203C-C0D7-E56D-6C41-E169CC1E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932CCECB-298B-AD90-C7B4-47BEFF8D942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8E1E3533-9A66-630F-161E-C3013150F37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A1CC94DC-B800-5099-52E8-1EEE626E43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1255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8C9BE5CB-9729-87B2-B2D9-8A86DD4F2421}"/>
              </a:ext>
            </a:extLst>
          </p:cNvPr>
          <p:cNvSpPr txBox="1"/>
          <p:nvPr/>
        </p:nvSpPr>
        <p:spPr>
          <a:xfrm>
            <a:off x="250200" y="1456611"/>
            <a:ext cx="8643600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b="0" i="0" u="none" strike="noStrike" cap="none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EDA INFERENCIAL &amp; FEATURE ENGINEERING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0DDC1C6-CAD3-9786-4881-111C5B830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44D8B71B-0CC5-A789-ECAF-550678E2EB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E0D5ECA-5CB0-7E2D-C185-C93BF1E6AC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522" y="3479490"/>
            <a:ext cx="8294956" cy="2589672"/>
          </a:xfrm>
          <a:prstGeom prst="rect">
            <a:avLst/>
          </a:prstGeom>
        </p:spPr>
      </p:pic>
      <p:sp>
        <p:nvSpPr>
          <p:cNvPr id="6" name="Google Shape;122;g3247faa1fde_0_6">
            <a:extLst>
              <a:ext uri="{FF2B5EF4-FFF2-40B4-BE49-F238E27FC236}">
                <a16:creationId xmlns:a16="http://schemas.microsoft.com/office/drawing/2014/main" id="{4F705AA7-5CC1-95E5-720B-BF0B8E22436A}"/>
              </a:ext>
            </a:extLst>
          </p:cNvPr>
          <p:cNvSpPr txBox="1"/>
          <p:nvPr/>
        </p:nvSpPr>
        <p:spPr>
          <a:xfrm>
            <a:off x="250200" y="2004754"/>
            <a:ext cx="8643600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 base nos resultados inferenciais criou-se as variáveis: </a:t>
            </a:r>
            <a:r>
              <a:rPr lang="pt-BR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lead_time_total_horas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pt-BR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complexidade_operacional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pt-BR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pedido_grade_flag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e </a:t>
            </a:r>
            <a:r>
              <a:rPr lang="pt-BR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processo_longo_flag</a:t>
            </a:r>
            <a:endParaRPr lang="pt-BR" sz="2000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omic Neue"/>
            </a:endParaRPr>
          </a:p>
        </p:txBody>
      </p:sp>
    </p:spTree>
    <p:extLst>
      <p:ext uri="{BB962C8B-B14F-4D97-AF65-F5344CB8AC3E}">
        <p14:creationId xmlns:p14="http://schemas.microsoft.com/office/powerpoint/2010/main" val="3552964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83C60101-31B2-6AD7-0CC9-0D11BBADB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6F078932-3559-BEDF-E5C5-785EA56934B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0D28E413-545B-BD3F-6904-18878C79F2D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F25EE9FB-5B98-6AAA-6B1C-97478B8387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1255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DBEB80C5-129E-E532-CA0A-3E0F58382678}"/>
              </a:ext>
            </a:extLst>
          </p:cNvPr>
          <p:cNvSpPr txBox="1"/>
          <p:nvPr/>
        </p:nvSpPr>
        <p:spPr>
          <a:xfrm>
            <a:off x="250200" y="1456611"/>
            <a:ext cx="8643600" cy="1069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b="0" i="0" u="none" strike="noStrike" cap="none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PRÉ-PROCESSAMENTO – ELIMINANDO DATA LEAKAGE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A821B022-2AA4-07A6-3D06-B3DCE98DF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BF6B1C6B-091C-5072-FCB0-74F0E4EABB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sp>
        <p:nvSpPr>
          <p:cNvPr id="6" name="Google Shape;122;g3247faa1fde_0_6">
            <a:extLst>
              <a:ext uri="{FF2B5EF4-FFF2-40B4-BE49-F238E27FC236}">
                <a16:creationId xmlns:a16="http://schemas.microsoft.com/office/drawing/2014/main" id="{C06CE69E-400D-0831-9F59-4AA48FE0001E}"/>
              </a:ext>
            </a:extLst>
          </p:cNvPr>
          <p:cNvSpPr txBox="1"/>
          <p:nvPr/>
        </p:nvSpPr>
        <p:spPr>
          <a:xfrm>
            <a:off x="250200" y="2446047"/>
            <a:ext cx="8643600" cy="4148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Imputação de valores ausentes: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1600" dirty="0" err="1"/>
              <a:t>SimpleImputer</a:t>
            </a:r>
            <a:r>
              <a:rPr lang="pt-BR" sz="1600" dirty="0"/>
              <a:t>(</a:t>
            </a:r>
            <a:r>
              <a:rPr lang="pt-BR" sz="1600" dirty="0" err="1"/>
              <a:t>strategy</a:t>
            </a:r>
            <a:r>
              <a:rPr lang="pt-BR" sz="1600" dirty="0"/>
              <a:t>="</a:t>
            </a:r>
            <a:r>
              <a:rPr lang="pt-BR" sz="1600" dirty="0" err="1"/>
              <a:t>median</a:t>
            </a:r>
            <a:r>
              <a:rPr lang="pt-BR" sz="1600" dirty="0"/>
              <a:t>") 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para aplicar a mediana nas variáveis numéricas, pois é robusto contra outliers. Para categóricas foi aplicado </a:t>
            </a:r>
            <a:r>
              <a:rPr lang="pt-BR" sz="1600" dirty="0" err="1"/>
              <a:t>SimpleImputer</a:t>
            </a:r>
            <a:r>
              <a:rPr lang="pt-BR" sz="1600" dirty="0"/>
              <a:t>(</a:t>
            </a:r>
            <a:r>
              <a:rPr lang="pt-BR" sz="1600" dirty="0" err="1"/>
              <a:t>strategy</a:t>
            </a:r>
            <a:r>
              <a:rPr lang="pt-BR" sz="1600" dirty="0"/>
              <a:t>="</a:t>
            </a:r>
            <a:r>
              <a:rPr lang="pt-BR" sz="1600" dirty="0" err="1"/>
              <a:t>most_frequent</a:t>
            </a:r>
            <a:r>
              <a:rPr lang="pt-BR" sz="1600" dirty="0"/>
              <a:t>")(moda), 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pois mantem a coerência de padrões minimizando viés.</a:t>
            </a:r>
          </a:p>
          <a:p>
            <a:pPr marL="101600">
              <a:lnSpc>
                <a:spcPct val="115000"/>
              </a:lnSpc>
              <a:buClr>
                <a:schemeClr val="dk1"/>
              </a:buClr>
              <a:buSzPts val="2000"/>
            </a:pPr>
            <a:endParaRPr lang="pt-BR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Codificação Categórica (</a:t>
            </a:r>
            <a:r>
              <a:rPr lang="pt-BR" sz="16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OneHot</a:t>
            </a: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16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Encoding</a:t>
            </a: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): 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É o método mais seguro e universal para modelos clássicos, como Regressão Logística, Árvores, Random Forest e Gradient Boosting.</a:t>
            </a:r>
          </a:p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endParaRPr lang="pt-BR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16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Scaling</a:t>
            </a: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(Padronização das Variáveis Numéricas): 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padronização é uma etapa fundamental na preparação dos dados, especialmente para modelos sensíveis à escala das variáveis. Neste projeto, utilizamos o </a:t>
            </a:r>
            <a:r>
              <a:rPr lang="pt-BR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StandardScaler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que transforma todas as variáveis numéricas para uma escala comum, com média 0 e desvio padrão 1.</a:t>
            </a:r>
          </a:p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endParaRPr lang="pt-BR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endParaRPr lang="pt-BR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557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5CBCB0D2-F4B5-87EE-23D7-FC7637896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0D468169-5AA9-5007-CF90-D140C12DD8D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96AC68B2-6E17-D9F6-50AF-064D2922AE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8BAFE012-A4DF-7B8C-EA22-05536C72BF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1255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69542997-BD3B-5895-235E-07A31C80EEFA}"/>
              </a:ext>
            </a:extLst>
          </p:cNvPr>
          <p:cNvSpPr txBox="1"/>
          <p:nvPr/>
        </p:nvSpPr>
        <p:spPr>
          <a:xfrm>
            <a:off x="250200" y="1456611"/>
            <a:ext cx="8643600" cy="1069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b="0" i="0" u="none" strike="noStrike" cap="none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PRÉ-PROCESSAMENTO – ELIMINANDO DATA LEAKAGE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CBF522C2-0DED-8071-67F0-2A1844252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9B231398-B28D-5532-BB1D-C1B0C759D5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sp>
        <p:nvSpPr>
          <p:cNvPr id="6" name="Google Shape;122;g3247faa1fde_0_6">
            <a:extLst>
              <a:ext uri="{FF2B5EF4-FFF2-40B4-BE49-F238E27FC236}">
                <a16:creationId xmlns:a16="http://schemas.microsoft.com/office/drawing/2014/main" id="{B4E6275C-051E-C27B-58E1-23CF9929AB7F}"/>
              </a:ext>
            </a:extLst>
          </p:cNvPr>
          <p:cNvSpPr txBox="1"/>
          <p:nvPr/>
        </p:nvSpPr>
        <p:spPr>
          <a:xfrm>
            <a:off x="250200" y="2446047"/>
            <a:ext cx="8643600" cy="35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16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ColumnTransformer</a:t>
            </a: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— Unindo o Processo: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Consolidação de todos os elementos dentro de um único bloco de pré-processamento usando </a:t>
            </a:r>
            <a:r>
              <a:rPr lang="pt-BR" sz="16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ColumnTransformer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garantindo que cada transformação seja aplicada apenas ao tipo correto de variável, preservando a integridade do pipeline.</a:t>
            </a:r>
          </a:p>
          <a:p>
            <a:pPr marL="101600">
              <a:lnSpc>
                <a:spcPct val="115000"/>
              </a:lnSpc>
              <a:buClr>
                <a:schemeClr val="dk1"/>
              </a:buClr>
              <a:buSzPts val="2000"/>
            </a:pPr>
            <a:endParaRPr lang="pt-BR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Split </a:t>
            </a:r>
            <a:r>
              <a:rPr lang="pt-BR" sz="16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Train</a:t>
            </a: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/Test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Esta etapa divide o dataset em </a:t>
            </a: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70% treino e 30% teste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 Usou-se o </a:t>
            </a: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parâmetro </a:t>
            </a:r>
            <a:r>
              <a:rPr lang="pt-BR" sz="16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stratify</a:t>
            </a: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=y 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 o objetivo de manter as proporções originais de atrasos/não atrasos garantindo que o conjunto de treino e testes representem adequadamente o problema. A separação é importante como um dos fatores para evitar o data </a:t>
            </a:r>
            <a:r>
              <a:rPr lang="pt-BR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leakage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endParaRPr lang="pt-BR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Pipeline Final de Pré-processamento: 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Nos passos anteriores criou-se ferramentas, nada foi processado, todo o processamento será feito nesta etapa usando o </a:t>
            </a: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Pipeline(</a:t>
            </a:r>
            <a:r>
              <a:rPr lang="pt-BR" sz="16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setps</a:t>
            </a: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=[()])</a:t>
            </a:r>
          </a:p>
        </p:txBody>
      </p:sp>
    </p:spTree>
    <p:extLst>
      <p:ext uri="{BB962C8B-B14F-4D97-AF65-F5344CB8AC3E}">
        <p14:creationId xmlns:p14="http://schemas.microsoft.com/office/powerpoint/2010/main" val="1258132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6FA265D1-5614-F604-7CDF-066560504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4A0833BC-59CE-68CC-7447-2BC52470FF5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61E054AD-B25F-9337-BF57-F30E8CC1360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E11C1839-A3E1-5B1E-6A74-36EBFC8A00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1255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527DBDFE-2234-203D-23ED-EA47213F2A71}"/>
              </a:ext>
            </a:extLst>
          </p:cNvPr>
          <p:cNvSpPr txBox="1"/>
          <p:nvPr/>
        </p:nvSpPr>
        <p:spPr>
          <a:xfrm>
            <a:off x="250200" y="1456611"/>
            <a:ext cx="8643600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b="0" i="0" u="none" strike="noStrike" cap="none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MODELOS CLÁSSICOS e METRICAS FUNDAMENTAIS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18F75D72-3521-0B0B-F139-83DFD580A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5515E190-9945-456C-633B-48A0198E3A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sp>
        <p:nvSpPr>
          <p:cNvPr id="6" name="Google Shape;122;g3247faa1fde_0_6">
            <a:extLst>
              <a:ext uri="{FF2B5EF4-FFF2-40B4-BE49-F238E27FC236}">
                <a16:creationId xmlns:a16="http://schemas.microsoft.com/office/drawing/2014/main" id="{4EFF2A92-7CC1-0676-0B55-224D6538F8A7}"/>
              </a:ext>
            </a:extLst>
          </p:cNvPr>
          <p:cNvSpPr txBox="1"/>
          <p:nvPr/>
        </p:nvSpPr>
        <p:spPr>
          <a:xfrm>
            <a:off x="250200" y="2446047"/>
            <a:ext cx="86436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Modelos avaliados: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Foram avaliados modelos clássicos de classificação como:</a:t>
            </a:r>
          </a:p>
        </p:txBody>
      </p:sp>
      <p:sp>
        <p:nvSpPr>
          <p:cNvPr id="2" name="Google Shape;122;g3247faa1fde_0_6">
            <a:extLst>
              <a:ext uri="{FF2B5EF4-FFF2-40B4-BE49-F238E27FC236}">
                <a16:creationId xmlns:a16="http://schemas.microsoft.com/office/drawing/2014/main" id="{8EF0F78E-4D01-626F-692E-0A5B51ED6BD4}"/>
              </a:ext>
            </a:extLst>
          </p:cNvPr>
          <p:cNvSpPr txBox="1"/>
          <p:nvPr/>
        </p:nvSpPr>
        <p:spPr>
          <a:xfrm>
            <a:off x="609600" y="2905774"/>
            <a:ext cx="8284200" cy="273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16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DummyClassifier</a:t>
            </a: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por ser um modelo mais simplista, o </a:t>
            </a:r>
            <a:r>
              <a:rPr lang="pt-BR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DummyClassifier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foi usado para definir a baseline</a:t>
            </a:r>
          </a:p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16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LogisticRegression</a:t>
            </a: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capaz de prever probabilidade com base em variáveis independentes</a:t>
            </a:r>
          </a:p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16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DecisionTreeClassifier</a:t>
            </a: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modelo supervisionado que usa uma estrutura de árvore de previsões usando um fluxograma de regras de decisões.</a:t>
            </a:r>
          </a:p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16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RandomForestClassifier</a:t>
            </a: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modelo robusto, pois combina múltiplas arvores de decisão para melhorar a precisão e a estabilidade das previsões</a:t>
            </a:r>
          </a:p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16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GradientBoostingClassifier</a:t>
            </a: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 queridinho dos Cientistas de Dados por ser muito forte e preciso combinando vários modelos mais fracos de forma sequencial</a:t>
            </a:r>
          </a:p>
        </p:txBody>
      </p:sp>
    </p:spTree>
    <p:extLst>
      <p:ext uri="{BB962C8B-B14F-4D97-AF65-F5344CB8AC3E}">
        <p14:creationId xmlns:p14="http://schemas.microsoft.com/office/powerpoint/2010/main" val="521727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54BADBCA-FDA1-F645-4CDC-13A9AB20A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D3E012E5-3362-7CBF-8DD2-32E28E89FA4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2F1E14FE-3EC4-8A9F-5297-4DD695C042E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8F27CFFE-3703-8294-CC56-4027498503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1255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365E8101-5AE8-94F8-7E5A-BEFEE77AE8C8}"/>
              </a:ext>
            </a:extLst>
          </p:cNvPr>
          <p:cNvSpPr txBox="1"/>
          <p:nvPr/>
        </p:nvSpPr>
        <p:spPr>
          <a:xfrm>
            <a:off x="250200" y="1456611"/>
            <a:ext cx="8643600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b="0" i="0" u="none" strike="noStrike" cap="none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MODELOS CLÁSSICOS e METRICAS FUNDAMENTAIS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B8D06EEE-C19D-741E-490F-3D745B4C9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C06F1A27-9C2B-C492-C955-020B111039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sp>
        <p:nvSpPr>
          <p:cNvPr id="6" name="Google Shape;122;g3247faa1fde_0_6">
            <a:extLst>
              <a:ext uri="{FF2B5EF4-FFF2-40B4-BE49-F238E27FC236}">
                <a16:creationId xmlns:a16="http://schemas.microsoft.com/office/drawing/2014/main" id="{669670CB-1EC4-90C0-2217-F9F201223645}"/>
              </a:ext>
            </a:extLst>
          </p:cNvPr>
          <p:cNvSpPr txBox="1"/>
          <p:nvPr/>
        </p:nvSpPr>
        <p:spPr>
          <a:xfrm>
            <a:off x="250200" y="2446047"/>
            <a:ext cx="86436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0160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Métricas fundamentais utilizadas para avaliar os modelos</a:t>
            </a:r>
          </a:p>
        </p:txBody>
      </p:sp>
      <p:sp>
        <p:nvSpPr>
          <p:cNvPr id="4" name="Google Shape;122;g3247faa1fde_0_6">
            <a:extLst>
              <a:ext uri="{FF2B5EF4-FFF2-40B4-BE49-F238E27FC236}">
                <a16:creationId xmlns:a16="http://schemas.microsoft.com/office/drawing/2014/main" id="{FF5BF1FF-7620-E513-DFED-B8F7033CA07E}"/>
              </a:ext>
            </a:extLst>
          </p:cNvPr>
          <p:cNvSpPr txBox="1"/>
          <p:nvPr/>
        </p:nvSpPr>
        <p:spPr>
          <a:xfrm>
            <a:off x="250200" y="2984626"/>
            <a:ext cx="8643600" cy="195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Accuracy</a:t>
            </a:r>
            <a:r>
              <a:rPr lang="pt-BR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proporção geral de acertos</a:t>
            </a:r>
          </a:p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Precision</a:t>
            </a:r>
            <a:r>
              <a:rPr lang="pt-BR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qualidade dos positivos previstos(evita falsos positivos)</a:t>
            </a:r>
          </a:p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Recall: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Capacidade de identificar pedidos que realmente irão atrasar</a:t>
            </a:r>
          </a:p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F1-Score: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equilíbrio entre </a:t>
            </a:r>
            <a:r>
              <a:rPr lang="pt-BR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Precision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e Recall</a:t>
            </a:r>
          </a:p>
          <a:p>
            <a:pPr marL="457200" indent="-355600">
              <a:lnSpc>
                <a:spcPct val="115000"/>
              </a:lnSpc>
              <a:buClr>
                <a:schemeClr val="dk1"/>
              </a:buClr>
              <a:buSzPts val="2000"/>
              <a:buFont typeface="Comic Neue"/>
              <a:buChar char="●"/>
            </a:pPr>
            <a:r>
              <a:rPr lang="pt-BR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ROC AUC: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separabilidade global entre as classes</a:t>
            </a:r>
          </a:p>
        </p:txBody>
      </p:sp>
    </p:spTree>
    <p:extLst>
      <p:ext uri="{BB962C8B-B14F-4D97-AF65-F5344CB8AC3E}">
        <p14:creationId xmlns:p14="http://schemas.microsoft.com/office/powerpoint/2010/main" val="505414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E39F4FE5-246C-550D-0934-161556E38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B9703BAC-0BC1-0069-AF2B-7C01016D315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EA16DDC6-5502-7B51-6101-40F5A24AB9B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75F21CA9-7C22-6460-26C1-BACB88403D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1255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7494AB87-CA34-5C8E-127F-D775DFE2EC3C}"/>
              </a:ext>
            </a:extLst>
          </p:cNvPr>
          <p:cNvSpPr txBox="1"/>
          <p:nvPr/>
        </p:nvSpPr>
        <p:spPr>
          <a:xfrm>
            <a:off x="250200" y="1456611"/>
            <a:ext cx="8643600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b="0" i="0" u="none" strike="noStrike" cap="none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MODELOS CLÁSSICOS e METRICAS FUNDAMENTAIS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F68A0EE2-B798-7703-D2FE-73B9CEDA0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3C78C60-A630-9C66-0539-B62881F51E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sp>
        <p:nvSpPr>
          <p:cNvPr id="6" name="Google Shape;122;g3247faa1fde_0_6">
            <a:extLst>
              <a:ext uri="{FF2B5EF4-FFF2-40B4-BE49-F238E27FC236}">
                <a16:creationId xmlns:a16="http://schemas.microsoft.com/office/drawing/2014/main" id="{DA513BF8-4FED-9226-9B4F-24EE9A3793EE}"/>
              </a:ext>
            </a:extLst>
          </p:cNvPr>
          <p:cNvSpPr txBox="1"/>
          <p:nvPr/>
        </p:nvSpPr>
        <p:spPr>
          <a:xfrm>
            <a:off x="250200" y="2446047"/>
            <a:ext cx="86436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0160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Os modelos que melhor equilibraram </a:t>
            </a:r>
            <a:r>
              <a:rPr lang="pt-BR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Recall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e </a:t>
            </a:r>
            <a:r>
              <a:rPr lang="pt-BR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F1-Score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foram priorizados.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2B74289-942E-0A59-73DB-58A7B78AE0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757" y="3103177"/>
            <a:ext cx="8169610" cy="304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928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99A80CD4-4850-CF15-1FC6-DA61627C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1B8CCEDF-378A-D5B2-60FA-8F20EF79C77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4DD981E0-C884-62A7-19D1-2780446DD78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7CE55584-DA52-339D-EF5B-8BC16B1166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1255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07FD676D-F10F-BFD3-AC1C-18E97036FD3E}"/>
              </a:ext>
            </a:extLst>
          </p:cNvPr>
          <p:cNvSpPr txBox="1"/>
          <p:nvPr/>
        </p:nvSpPr>
        <p:spPr>
          <a:xfrm>
            <a:off x="250200" y="1456611"/>
            <a:ext cx="8643600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b="0" i="0" u="none" strike="noStrike" cap="none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AJUSTE DE DESBALANCEAMENTO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19B52336-FE29-1523-30EE-CDDDF8345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FF778820-5757-9AB8-58DC-18831DD708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sp>
        <p:nvSpPr>
          <p:cNvPr id="6" name="Google Shape;122;g3247faa1fde_0_6">
            <a:extLst>
              <a:ext uri="{FF2B5EF4-FFF2-40B4-BE49-F238E27FC236}">
                <a16:creationId xmlns:a16="http://schemas.microsoft.com/office/drawing/2014/main" id="{9BC38878-97B8-01DF-28EC-D557539D92B4}"/>
              </a:ext>
            </a:extLst>
          </p:cNvPr>
          <p:cNvSpPr txBox="1"/>
          <p:nvPr/>
        </p:nvSpPr>
        <p:spPr>
          <a:xfrm>
            <a:off x="250200" y="2425727"/>
            <a:ext cx="86436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0160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Os ajustes foram realizados no modelo vencedor </a:t>
            </a:r>
            <a:r>
              <a:rPr lang="pt-BR" sz="20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RandomForestClassifier</a:t>
            </a:r>
            <a:endParaRPr lang="pt-BR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Google Shape;122;g3247faa1fde_0_6">
            <a:extLst>
              <a:ext uri="{FF2B5EF4-FFF2-40B4-BE49-F238E27FC236}">
                <a16:creationId xmlns:a16="http://schemas.microsoft.com/office/drawing/2014/main" id="{4FAB5268-376F-E59A-F985-2CFFEA1763E0}"/>
              </a:ext>
            </a:extLst>
          </p:cNvPr>
          <p:cNvSpPr txBox="1"/>
          <p:nvPr/>
        </p:nvSpPr>
        <p:spPr>
          <a:xfrm>
            <a:off x="250200" y="3343218"/>
            <a:ext cx="8643600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Class</a:t>
            </a:r>
            <a:r>
              <a:rPr lang="pt-BR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0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Weights</a:t>
            </a:r>
            <a:r>
              <a:rPr lang="pt-BR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Atribui peso maior aos exemplos da classe minoritária e peso menor para as classes minoritárias. É geralmente um bom ponto de partida, pois é simples e rápido de aplicar.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SMOTE(</a:t>
            </a:r>
            <a:r>
              <a:rPr lang="pt-BR" sz="20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Synthetic</a:t>
            </a:r>
            <a:r>
              <a:rPr lang="pt-BR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0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Minority</a:t>
            </a:r>
            <a:r>
              <a:rPr lang="pt-BR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Over-</a:t>
            </a:r>
            <a:r>
              <a:rPr lang="pt-BR" sz="20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sampling</a:t>
            </a:r>
            <a:r>
              <a:rPr lang="pt-BR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0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Technique</a:t>
            </a:r>
            <a:r>
              <a:rPr lang="pt-BR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): 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Cria novas amostras sintéticas da classe minoritária. É eficaz quando a classe minoritária tem padrões complexos que se beneficiam da geração de dados sintéticos. </a:t>
            </a:r>
          </a:p>
        </p:txBody>
      </p:sp>
    </p:spTree>
    <p:extLst>
      <p:ext uri="{BB962C8B-B14F-4D97-AF65-F5344CB8AC3E}">
        <p14:creationId xmlns:p14="http://schemas.microsoft.com/office/powerpoint/2010/main" val="2781560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5C2D9F2F-94D2-9AE9-2E77-4076819EE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68DC9A9F-5BC1-19D3-B350-29D45658B4D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449B8955-8EC8-4C5D-86BD-1D7EB810C8B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EFD23142-CBFD-EC3A-B541-EBBC48A158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1255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8A433CEE-8F84-BE4D-F72E-02ABB919B58B}"/>
              </a:ext>
            </a:extLst>
          </p:cNvPr>
          <p:cNvSpPr txBox="1"/>
          <p:nvPr/>
        </p:nvSpPr>
        <p:spPr>
          <a:xfrm>
            <a:off x="250200" y="1456611"/>
            <a:ext cx="8643600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b="0" i="0" u="none" strike="noStrike" cap="none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AJUSTE DE DESBALANCEAMENTO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F55C1278-9FBB-6620-63C4-51195911B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33731287-A3FB-FB90-C058-EE4E784AFE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039E9E3-F0FD-61DC-5E53-DD842D52A3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41" y="3730612"/>
            <a:ext cx="8316518" cy="2586706"/>
          </a:xfrm>
          <a:prstGeom prst="rect">
            <a:avLst/>
          </a:prstGeom>
        </p:spPr>
      </p:pic>
      <p:sp>
        <p:nvSpPr>
          <p:cNvPr id="8" name="Google Shape;122;g3247faa1fde_0_6">
            <a:extLst>
              <a:ext uri="{FF2B5EF4-FFF2-40B4-BE49-F238E27FC236}">
                <a16:creationId xmlns:a16="http://schemas.microsoft.com/office/drawing/2014/main" id="{29D9C7CF-AF0D-A212-F35A-D46702E4A700}"/>
              </a:ext>
            </a:extLst>
          </p:cNvPr>
          <p:cNvSpPr txBox="1"/>
          <p:nvPr/>
        </p:nvSpPr>
        <p:spPr>
          <a:xfrm>
            <a:off x="250200" y="2425727"/>
            <a:ext cx="8643600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0160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pt-BR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Random Forest + SMOTE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foi levemente superior, mas o tempo de processamento é alto, então é mais viável optar pelo </a:t>
            </a:r>
            <a:r>
              <a:rPr lang="pt-BR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Random Forest + </a:t>
            </a:r>
            <a:r>
              <a:rPr lang="pt-BR" sz="20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Class</a:t>
            </a:r>
            <a:r>
              <a:rPr lang="pt-BR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0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Weights</a:t>
            </a: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pois o tempo de processamento e menor.</a:t>
            </a:r>
            <a:endParaRPr lang="pt-BR" sz="20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27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92C16CD1-565D-113B-0E62-BD880C9CF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5C78DA87-6425-4761-FD66-69E44800A05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95C9026D-C7D8-2D31-4C08-68A8F095954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951ABF58-B91F-4110-6220-2438F31164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1255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F69BBC4A-A5BE-58E5-B080-08F997746085}"/>
              </a:ext>
            </a:extLst>
          </p:cNvPr>
          <p:cNvSpPr txBox="1"/>
          <p:nvPr/>
        </p:nvSpPr>
        <p:spPr>
          <a:xfrm>
            <a:off x="250200" y="1456611"/>
            <a:ext cx="8643600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b="0" i="0" u="none" strike="noStrike" cap="none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THRESHOLDS DE DECISÃO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43939809-B904-649D-37D1-FA06DC89E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C64CDEFC-6597-A9C9-F7CF-A1D305BC80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948C482-6C9B-CC7C-26A7-C6CA5BF175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04" y="2024180"/>
            <a:ext cx="3183455" cy="423179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716CA2E-7E03-18D7-A332-ADB89CB0AA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7037" y="2024181"/>
            <a:ext cx="5047107" cy="249702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121E1C1-6137-A2C1-B839-091AE66D8A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7036" y="4631702"/>
            <a:ext cx="2722643" cy="1624277"/>
          </a:xfrm>
          <a:prstGeom prst="rect">
            <a:avLst/>
          </a:prstGeom>
        </p:spPr>
      </p:pic>
      <p:sp>
        <p:nvSpPr>
          <p:cNvPr id="12" name="Google Shape;123;g3247faa1fde_0_6">
            <a:extLst>
              <a:ext uri="{FF2B5EF4-FFF2-40B4-BE49-F238E27FC236}">
                <a16:creationId xmlns:a16="http://schemas.microsoft.com/office/drawing/2014/main" id="{520344D1-62CF-4725-BFC9-1BDFDB10A1A5}"/>
              </a:ext>
            </a:extLst>
          </p:cNvPr>
          <p:cNvSpPr txBox="1"/>
          <p:nvPr/>
        </p:nvSpPr>
        <p:spPr>
          <a:xfrm>
            <a:off x="6313714" y="5025916"/>
            <a:ext cx="2580086" cy="75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buSzPts val="3000"/>
            </a:pPr>
            <a:r>
              <a:rPr lang="en-US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omic Relief"/>
              </a:rPr>
              <a:t>USAR:</a:t>
            </a:r>
            <a:r>
              <a:rPr lang="en-US" sz="16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omic Relief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omic Relief"/>
              </a:rPr>
              <a:t>y_pred</a:t>
            </a:r>
            <a:r>
              <a:rPr lang="es-ES" sz="16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omic Relief"/>
              </a:rPr>
              <a:t> = (proba &gt;= 0.55).</a:t>
            </a:r>
            <a:r>
              <a:rPr lang="es-ES" sz="1600" dirty="0" err="1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omic Relief"/>
              </a:rPr>
              <a:t>astype</a:t>
            </a:r>
            <a:r>
              <a:rPr lang="es-ES" sz="16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omic Relief"/>
              </a:rPr>
              <a:t>(</a:t>
            </a:r>
            <a:r>
              <a:rPr lang="es-ES" sz="1600" dirty="0" err="1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omic Relief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omic Relief"/>
              </a:rPr>
              <a:t>)</a:t>
            </a:r>
            <a:endParaRPr sz="1600" b="0" i="0" u="none" strike="noStrike" cap="none" dirty="0">
              <a:solidFill>
                <a:schemeClr val="dk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omic Relief"/>
            </a:endParaRPr>
          </a:p>
        </p:txBody>
      </p:sp>
    </p:spTree>
    <p:extLst>
      <p:ext uri="{BB962C8B-B14F-4D97-AF65-F5344CB8AC3E}">
        <p14:creationId xmlns:p14="http://schemas.microsoft.com/office/powerpoint/2010/main" val="3217528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559653D3-FA49-E468-4FE4-811029AD8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0CC48574-E7D6-B3CD-2344-7E5CC52CBC1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E9B182D3-62EC-90EF-C014-D25C8F69394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36C20854-02F5-1239-EB33-6C615B5C57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1256"/>
            <a:ext cx="9144000" cy="725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7528456D-BFFF-4155-CA77-409FB75084E4}"/>
              </a:ext>
            </a:extLst>
          </p:cNvPr>
          <p:cNvSpPr txBox="1"/>
          <p:nvPr/>
        </p:nvSpPr>
        <p:spPr>
          <a:xfrm>
            <a:off x="250200" y="1456611"/>
            <a:ext cx="8643600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b="0" i="0" u="none" strike="noStrike" cap="none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MATRIZ DE CONFUSÃO, ROC e PRECISION-RECALL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802870A0-EE35-859B-2E68-3410AAA07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4A924178-BC4F-4E19-3B14-8BF7565406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B1E265B-9DE7-23F8-7E42-701D129F81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095" y="2179567"/>
            <a:ext cx="4412619" cy="41456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1D5C6A9-8620-0A57-3A6B-760258CC85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2050" y="2179567"/>
            <a:ext cx="2888128" cy="213537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0F042CF-132E-D251-938F-E14B8E0319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7132" y="4349749"/>
            <a:ext cx="2943046" cy="239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218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11CBAFFF-D9BF-3720-22EB-85EADC612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C9F36259-8767-77F0-FD47-D0EC497BE5C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95A3B20A-36FF-6EF1-2316-F8B9D613BB7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FF9BE336-AF45-FD77-3F9E-A9C664562E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1256"/>
            <a:ext cx="9144000" cy="725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0BE7F213-AF99-799E-776D-A1B4CC31B382}"/>
              </a:ext>
            </a:extLst>
          </p:cNvPr>
          <p:cNvSpPr txBox="1"/>
          <p:nvPr/>
        </p:nvSpPr>
        <p:spPr>
          <a:xfrm>
            <a:off x="250200" y="1456611"/>
            <a:ext cx="8643600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b="0" i="0" u="none" strike="noStrike" cap="none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CONCLUSÃO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405DBFF-3322-843C-6109-E26FAAF11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16E7167E-F2F4-F0DA-96E2-0E4B4E5338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sp>
        <p:nvSpPr>
          <p:cNvPr id="2" name="Google Shape;122;g3247faa1fde_0_6">
            <a:extLst>
              <a:ext uri="{FF2B5EF4-FFF2-40B4-BE49-F238E27FC236}">
                <a16:creationId xmlns:a16="http://schemas.microsoft.com/office/drawing/2014/main" id="{0CE12725-1F86-43AF-601E-52979C3E4B18}"/>
              </a:ext>
            </a:extLst>
          </p:cNvPr>
          <p:cNvSpPr txBox="1"/>
          <p:nvPr/>
        </p:nvSpPr>
        <p:spPr>
          <a:xfrm>
            <a:off x="250200" y="2241382"/>
            <a:ext cx="8643600" cy="3847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 projeto demonstrou que é possível gerar previsibilidade operacional </a:t>
            </a:r>
            <a:r>
              <a:rPr lang="pt-B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para a Zenatur utilizando técnicas de Machine Learning aplicadas diretamente ao comportamento histórico da cadeia logística. A análise exploratória revelou assimetrias, fases críticas e padrões específicos que fundamentaram a criação de features altamente relevantes, como </a:t>
            </a:r>
            <a:r>
              <a:rPr lang="pt-BR" i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lead_time_total</a:t>
            </a:r>
            <a:r>
              <a:rPr lang="pt-B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complexidade operacional e flags de pedidos grandes e processos longos.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 pipeline de pré-processamento foi cuidadosamente estruturado para evitar </a:t>
            </a:r>
            <a:r>
              <a:rPr lang="pt-BR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 </a:t>
            </a:r>
            <a:r>
              <a:rPr lang="pt-BR" b="1" i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leakage</a:t>
            </a:r>
            <a:r>
              <a:rPr lang="pt-B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garantindo imputação, codificação e padronização feitas exclusivamente sobre o conjunto de treino. Os modelos clássicos foram avaliados de forma comparativa e o </a:t>
            </a:r>
            <a:r>
              <a:rPr lang="pt-B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Random Forest com </a:t>
            </a:r>
            <a:r>
              <a:rPr lang="pt-BR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Class</a:t>
            </a:r>
            <a:r>
              <a:rPr lang="pt-B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Weights</a:t>
            </a:r>
            <a:r>
              <a:rPr lang="pt-B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apresentou o melhor equilíbrio entre Recall e F1-Score, fornecendo robustez, estabilidade e excelente capacidade discriminativa (AUC ≈ 0.97).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análise dos </a:t>
            </a:r>
            <a:r>
              <a:rPr lang="pt-BR" b="1" i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thresholds</a:t>
            </a:r>
            <a:r>
              <a:rPr lang="pt-B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permitiu ajustar a decisão final com base nas necessidades reais do negócio</a:t>
            </a:r>
            <a:r>
              <a:rPr lang="pt-B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definindo </a:t>
            </a:r>
            <a:r>
              <a:rPr lang="pt-B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0.55</a:t>
            </a:r>
            <a:r>
              <a:rPr lang="pt-B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como ponto ótimo para maximizar o F1-Score e reduzir falsos negativos — que representam atrasos reais não identificados. As curvas ROC e </a:t>
            </a:r>
            <a:r>
              <a:rPr lang="pt-BR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Precision</a:t>
            </a:r>
            <a:r>
              <a:rPr lang="pt-B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-Recall confirmam a forte capacidade do modelo em separar pedidos com risco real de atraso, mesmo em um cenário de classes desbalanceadas.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Em síntese, o modelo final entrega previsibilidade, robustez e capacidade prática de suporte à tomada de decisão</a:t>
            </a:r>
            <a:r>
              <a:rPr lang="pt-B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podendo ser integrado diretamente ao fluxo operacional da Zenatur para alertas antecipados de risco OTIF.</a:t>
            </a:r>
          </a:p>
        </p:txBody>
      </p:sp>
    </p:spTree>
    <p:extLst>
      <p:ext uri="{BB962C8B-B14F-4D97-AF65-F5344CB8AC3E}">
        <p14:creationId xmlns:p14="http://schemas.microsoft.com/office/powerpoint/2010/main" val="184879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7E2FB2DC-0ABF-D46E-6852-B08CA78FE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663BAD09-FE88-E4B4-AD6E-7BD32733107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882F05A4-06FD-AB2B-EE4C-069FD3F25EB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8C96B8CC-0E98-6B68-B430-FF8097F3CE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1256"/>
            <a:ext cx="9144000" cy="725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247faa1fde_0_6">
            <a:extLst>
              <a:ext uri="{FF2B5EF4-FFF2-40B4-BE49-F238E27FC236}">
                <a16:creationId xmlns:a16="http://schemas.microsoft.com/office/drawing/2014/main" id="{91076F77-4D3F-A7FC-B5BF-401D14103925}"/>
              </a:ext>
            </a:extLst>
          </p:cNvPr>
          <p:cNvSpPr txBox="1"/>
          <p:nvPr/>
        </p:nvSpPr>
        <p:spPr>
          <a:xfrm>
            <a:off x="250200" y="1456611"/>
            <a:ext cx="8643600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500" b="0" i="0" u="none" strike="noStrike" cap="none" dirty="0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PRÓXIMOS PASSOS</a:t>
            </a:r>
            <a:endParaRPr sz="25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BBDB9323-20FD-AC0C-93A0-C68E449DC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058" y="271255"/>
            <a:ext cx="1611086" cy="101114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636C2A42-C605-1ED6-A6B8-1559A9ED82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875" y="355298"/>
            <a:ext cx="2360839" cy="978586"/>
          </a:xfrm>
          <a:prstGeom prst="rect">
            <a:avLst/>
          </a:prstGeom>
        </p:spPr>
      </p:pic>
      <p:sp>
        <p:nvSpPr>
          <p:cNvPr id="2" name="Google Shape;122;g3247faa1fde_0_6">
            <a:extLst>
              <a:ext uri="{FF2B5EF4-FFF2-40B4-BE49-F238E27FC236}">
                <a16:creationId xmlns:a16="http://schemas.microsoft.com/office/drawing/2014/main" id="{D746700A-0613-C7A1-2F05-AE05C9192B77}"/>
              </a:ext>
            </a:extLst>
          </p:cNvPr>
          <p:cNvSpPr txBox="1"/>
          <p:nvPr/>
        </p:nvSpPr>
        <p:spPr>
          <a:xfrm>
            <a:off x="250200" y="2241382"/>
            <a:ext cx="8643600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Criar o artefato em REST API: 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Publicar o modelo como </a:t>
            </a:r>
            <a:r>
              <a:rPr lang="pt-BR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endpoint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usando FastAPI, incluindo rota de predição, validação de entrada e aplicação do </a:t>
            </a:r>
            <a:r>
              <a:rPr lang="pt-BR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threshold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ótimo (0.55).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Desenvolver o </a:t>
            </a:r>
            <a:r>
              <a:rPr lang="pt-BR" sz="16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Frontend</a:t>
            </a: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com </a:t>
            </a:r>
            <a:r>
              <a:rPr lang="pt-BR" sz="16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Streamlit</a:t>
            </a: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Interface simples para upload de dados, visualização das probabilidades, ordenação por risco, dashboards e matrizes de decisão.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Criar os Containers Necessários (Docker): </a:t>
            </a:r>
            <a:r>
              <a:rPr lang="pt-BR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Containerizar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 backend (API), o </a:t>
            </a:r>
            <a:r>
              <a:rPr lang="pt-BR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frontend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</a:t>
            </a:r>
            <a:r>
              <a:rPr lang="pt-BR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Streamlit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e o modelo </a:t>
            </a:r>
            <a:r>
              <a:rPr lang="pt-BR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pré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-processado, garantindo reprodutibilidade e portabilidade.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Orquestrar os Containers: 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Configurar o Docker </a:t>
            </a:r>
            <a:r>
              <a:rPr lang="pt-BR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Compose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com rede interna, variáveis de ambiente e inicialização coordenada dos serviços.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Deploy em Ambiente de Demonstração (</a:t>
            </a:r>
            <a:r>
              <a:rPr lang="pt-BR" sz="16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Heroku</a:t>
            </a:r>
            <a:r>
              <a:rPr lang="pt-BR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): </a:t>
            </a:r>
            <a:r>
              <a:rPr lang="pt-BR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Publicar a solução integrada em um ambiente acessível via web, permitindo demonstração executiva para diretores, gestores e tomadores de decisão.</a:t>
            </a:r>
          </a:p>
        </p:txBody>
      </p:sp>
    </p:spTree>
    <p:extLst>
      <p:ext uri="{BB962C8B-B14F-4D97-AF65-F5344CB8AC3E}">
        <p14:creationId xmlns:p14="http://schemas.microsoft.com/office/powerpoint/2010/main" val="289122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9704D0DF-239A-1C31-30F7-129F36014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47faa1fde_0_6">
            <a:extLst>
              <a:ext uri="{FF2B5EF4-FFF2-40B4-BE49-F238E27FC236}">
                <a16:creationId xmlns:a16="http://schemas.microsoft.com/office/drawing/2014/main" id="{E8EA2F64-7786-CD48-47BE-8CBA09B43A3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47faa1fde_0_6">
            <a:extLst>
              <a:ext uri="{FF2B5EF4-FFF2-40B4-BE49-F238E27FC236}">
                <a16:creationId xmlns:a16="http://schemas.microsoft.com/office/drawing/2014/main" id="{55E98AB6-961A-C4AE-A310-5B40F64BFCA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121" name="Google Shape;121;g3247faa1fde_0_6" descr="slide-ppt-fundo-claro.png">
            <a:extLst>
              <a:ext uri="{FF2B5EF4-FFF2-40B4-BE49-F238E27FC236}">
                <a16:creationId xmlns:a16="http://schemas.microsoft.com/office/drawing/2014/main" id="{2B8018E6-4335-2313-999B-E97067A363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3;g3247faa1fde_0_6">
            <a:extLst>
              <a:ext uri="{FF2B5EF4-FFF2-40B4-BE49-F238E27FC236}">
                <a16:creationId xmlns:a16="http://schemas.microsoft.com/office/drawing/2014/main" id="{52344CBB-428B-6F8F-70C0-9B5F1F5BDB24}"/>
              </a:ext>
            </a:extLst>
          </p:cNvPr>
          <p:cNvSpPr txBox="1"/>
          <p:nvPr/>
        </p:nvSpPr>
        <p:spPr>
          <a:xfrm>
            <a:off x="250200" y="2965589"/>
            <a:ext cx="8643600" cy="10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4800" b="0" i="0" u="none" strike="noStrike" cap="none" dirty="0" err="1">
                <a:solidFill>
                  <a:schemeClr val="dk1"/>
                </a:solidFill>
                <a:latin typeface="+mn-lt"/>
                <a:ea typeface="Comic Relief"/>
                <a:cs typeface="Comic Relief"/>
                <a:sym typeface="Comic Relief"/>
              </a:rPr>
              <a:t>Obrigado</a:t>
            </a:r>
            <a:endParaRPr sz="4800" b="0" i="0" u="none" strike="noStrike" cap="none" dirty="0">
              <a:solidFill>
                <a:schemeClr val="dk1"/>
              </a:solidFill>
              <a:latin typeface="+mn-lt"/>
              <a:ea typeface="Comic Relief"/>
              <a:cs typeface="Comic Relief"/>
              <a:sym typeface="Comic Relief"/>
            </a:endParaRPr>
          </a:p>
        </p:txBody>
      </p:sp>
      <p:sp>
        <p:nvSpPr>
          <p:cNvPr id="9" name="Google Shape;122;g3247faa1fde_0_6">
            <a:extLst>
              <a:ext uri="{FF2B5EF4-FFF2-40B4-BE49-F238E27FC236}">
                <a16:creationId xmlns:a16="http://schemas.microsoft.com/office/drawing/2014/main" id="{9359607D-A1FB-1EC9-247C-37694673DA55}"/>
              </a:ext>
            </a:extLst>
          </p:cNvPr>
          <p:cNvSpPr txBox="1"/>
          <p:nvPr/>
        </p:nvSpPr>
        <p:spPr>
          <a:xfrm>
            <a:off x="250200" y="4113176"/>
            <a:ext cx="86436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Tiago Pereira lima – 1020325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LinkedIn:  </a:t>
            </a:r>
            <a:r>
              <a:rPr lang="pt-B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4"/>
              </a:rPr>
              <a:t>https://www.linkedin.com/in/tiago-lima-935049154/</a:t>
            </a:r>
            <a:endParaRPr lang="pt-BR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Github Projeto: </a:t>
            </a:r>
            <a:r>
              <a:rPr lang="pt-B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https://github.com/tiago466/ds-otif-detection-ml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449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1526</Words>
  <Application>Microsoft Office PowerPoint</Application>
  <PresentationFormat>Apresentação na tela (4:3)</PresentationFormat>
  <Paragraphs>97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Comic Neue</vt:lpstr>
      <vt:lpstr>Calibri Light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impacta impacta</dc:creator>
  <cp:lastModifiedBy>TIAGO PEREIRA LIMA</cp:lastModifiedBy>
  <cp:revision>31</cp:revision>
  <cp:lastPrinted>2025-11-24T16:58:43Z</cp:lastPrinted>
  <dcterms:created xsi:type="dcterms:W3CDTF">2020-08-21T13:47:14Z</dcterms:created>
  <dcterms:modified xsi:type="dcterms:W3CDTF">2025-11-24T19:20:08Z</dcterms:modified>
</cp:coreProperties>
</file>